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344" r:id="rId5"/>
    <p:sldId id="357" r:id="rId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2" d="100"/>
          <a:sy n="82" d="100"/>
        </p:scale>
        <p:origin x="6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B6E565C-6040-4A7F-AA9C-A1BABD1E91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B85992-75CF-41F2-8FC1-93AE1175F4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B75FD00-26AB-42F7-B087-2C831DB3C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122ACC-E63C-407A-9083-FDB1EF5F9A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143B36B-CE11-4DD2-89EA-6747178692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63497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506FF1-6EC6-4792-9362-60E6C13B5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A77C43B-28A6-4229-8009-7FC5DDC58C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3A9C0A8-ACE8-44DD-A78F-01746E364A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AB59824D-6109-4EAB-B0BD-8569306A99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DAD6D9F-97A6-433F-8567-F2CC9EF61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962050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37533F9-867F-4DB9-836D-1C564057A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71589EA-5BF0-4082-8483-BEBAF1FE3D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F9E57E-E090-4E9E-AF4B-F48F97524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00DEC18-42EE-4233-AE7F-470B6FFCF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8A869C-D805-4E29-9BF0-B007D2D9F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079622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ED12A85-6BD7-4525-B92E-513AF2410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B1EE1E2-CCDF-4252-B573-76816C93C78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2E35912-087A-42A7-B1FF-7F8F50294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B0E1259-42DA-48D1-A3F1-CB69D84F3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138C9D5-DFA7-4B75-B8FF-ED9B4B150C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FAC76B2-3874-4858-9763-D93AB74206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144186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7F4EBC-60B7-45CB-8A68-23A491937A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1829FF1-3932-4B7E-A228-9F1BEE5605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75B424DC-4D96-4A8B-9DDA-F1B18CA194B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7BCCA6D-6915-44CD-A3A0-BA364F6FBD9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E9155A-AF30-48E4-AE92-E0865C324D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0223327-B409-403F-AD8B-238ADD0E8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307B6754-D7BC-4349-92C7-76B933000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D5F6E37-1EF4-4947-8658-88F0A91F70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23550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2FCB08-5825-42AD-96CF-8753985A5E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8DB51316-D945-4788-8804-0E54B4C7B0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BA120DF4-F28E-42A3-B753-A7F666950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74345836-B21F-4970-B63F-510BD3098C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32836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C096A228-2CFF-44F7-8E31-21043F8E57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376F0381-05EC-4D1D-B40A-4C07034CB0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DA1C392-8A93-43A9-AD96-3ECF257699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00363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06C6B83-4C75-49E2-8B4E-6395E1E42C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2E3129-ECF5-4350-9F8E-E70B68753F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8852B34-9C15-4755-A376-B4300EDE3F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65A72B52-2DBB-43D3-99E4-F37B2A545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B4CF0E72-43F0-44B0-B157-B9ADC4B382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BEA0F14-AD85-473E-B449-BA53DCE84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707618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E584F03-AA12-4DC9-A16B-93198B2F3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E6BCBB2A-6ADE-4FA6-94A0-5983DC6201B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63E3B2-6E20-4BBB-9471-C9BF5CAFBC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761A7F69-0617-4769-B558-1A26A1DB86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C87935F1-0F89-40D8-8B91-5B598DFBC7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E7BB44C4-BA9D-4867-A72F-0653EA8608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00018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EF382B3-EC00-4E5E-AF27-3573311EDE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2C54CEA-EA89-409B-B666-6A0594B84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CE65BD9-6072-4CB7-8DF0-3034827D6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3CC5058-AE30-4210-B859-C8B14FDB6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2112F90-DEAA-4964-8B13-2E6EE8FFB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859339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5223F85-07EB-49DF-954C-724B20E401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4C1EF83-F6E6-4CD8-A438-EECDB1FE40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CDA58E-8051-4E7A-A24E-256AB015C7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3765CD1-7959-4295-A5B8-237E23D1D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39C9519-752C-4DD4-9723-85F5495D99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61062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6C9678-A196-4D98-BC1E-2F9A44982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C98BB75-5F78-4059-9B46-600C258D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12B3B66-4231-46A8-A3D5-280342B9BA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8A2C3C-365D-425B-858E-4CF3278BE2DB}" type="datetimeFigureOut">
              <a:rPr lang="ru-RU" smtClean="0"/>
              <a:t>13.06.2025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F46407C-8F3E-4916-8568-654D9D574C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825D409-00F8-4E48-9268-7726334225F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58B524-D466-4257-8C35-B7D7B380732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793155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32308E-589C-4600-BDB8-C06AA9F85EE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041400"/>
            <a:ext cx="12192000" cy="2387600"/>
          </a:xfrm>
        </p:spPr>
        <p:txBody>
          <a:bodyPr>
            <a:normAutofit/>
          </a:bodyPr>
          <a:lstStyle/>
          <a:p>
            <a:r>
              <a:rPr lang="ru-RU" b="1" dirty="0"/>
              <a:t>АЭС: Система управления реактором</a:t>
            </a:r>
            <a:endParaRPr lang="ru-RU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F07BFABB-4E20-4764-85DC-2F31A2821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746172" y="5559136"/>
            <a:ext cx="6445827" cy="1298864"/>
          </a:xfrm>
        </p:spPr>
        <p:txBody>
          <a:bodyPr/>
          <a:lstStyle/>
          <a:p>
            <a:pPr algn="l"/>
            <a:r>
              <a:rPr lang="ru-RU" dirty="0"/>
              <a:t>Выполнил: Мордовский Олег Александрович АВБ-23-1</a:t>
            </a:r>
          </a:p>
        </p:txBody>
      </p:sp>
    </p:spTree>
    <p:extLst>
      <p:ext uri="{BB962C8B-B14F-4D97-AF65-F5344CB8AC3E}">
        <p14:creationId xmlns:p14="http://schemas.microsoft.com/office/powerpoint/2010/main" val="28110783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4A3C910-7109-402E-B792-54500DD15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b="1" dirty="0"/>
              <a:t>Моделирование безопасной эксплуатации АЭС с учётом динамики тепловых процессов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28D8842-C389-4370-91C3-D98CAD03DA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9789367" cy="5218987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ru-RU" sz="2900" b="1" dirty="0"/>
              <a:t>Основные особенности симулятора АЭС</a:t>
            </a:r>
          </a:p>
          <a:p>
            <a:pPr marL="0" indent="0">
              <a:buNone/>
            </a:pPr>
            <a:r>
              <a:rPr lang="ru-RU" sz="2900" b="1" dirty="0"/>
              <a:t>1. Динамическое моделирование физических процессов</a:t>
            </a:r>
          </a:p>
          <a:p>
            <a:r>
              <a:rPr lang="ru-RU" sz="2900" b="1" dirty="0"/>
              <a:t>Реактор</a:t>
            </a:r>
            <a:r>
              <a:rPr lang="ru-RU" sz="2900" dirty="0"/>
              <a:t>:</a:t>
            </a:r>
          </a:p>
          <a:p>
            <a:pPr lvl="1"/>
            <a:r>
              <a:rPr lang="ru-RU" sz="2900" dirty="0"/>
              <a:t>Мощность регулируется от 0% до 100%.</a:t>
            </a:r>
          </a:p>
          <a:p>
            <a:r>
              <a:rPr lang="ru-RU" sz="2900" b="1" dirty="0"/>
              <a:t>Первичный контур </a:t>
            </a:r>
            <a:r>
              <a:rPr lang="ru-RU" sz="2900" dirty="0"/>
              <a:t>:</a:t>
            </a:r>
          </a:p>
          <a:p>
            <a:pPr lvl="1"/>
            <a:r>
              <a:rPr lang="ru-RU" sz="2900" dirty="0"/>
              <a:t>Три состояния: </a:t>
            </a:r>
            <a:r>
              <a:rPr lang="ru-RU" sz="2900" b="1" dirty="0"/>
              <a:t>нормальное</a:t>
            </a:r>
            <a:r>
              <a:rPr lang="ru-RU" sz="2900" dirty="0"/>
              <a:t>, </a:t>
            </a:r>
            <a:r>
              <a:rPr lang="ru-RU" sz="2900" b="1" dirty="0"/>
              <a:t>критическое</a:t>
            </a:r>
            <a:r>
              <a:rPr lang="ru-RU" sz="2900" dirty="0"/>
              <a:t> (перегрев), </a:t>
            </a:r>
            <a:r>
              <a:rPr lang="ru-RU" sz="2900" b="1" dirty="0"/>
              <a:t>аварийное</a:t>
            </a:r>
            <a:r>
              <a:rPr lang="ru-RU" sz="2900" dirty="0"/>
              <a:t> (расплавление).</a:t>
            </a:r>
          </a:p>
          <a:p>
            <a:pPr lvl="1"/>
            <a:r>
              <a:rPr lang="ru-RU" sz="2900" dirty="0"/>
              <a:t>Температура зависит от мощности реактора и работы турбины.</a:t>
            </a:r>
          </a:p>
          <a:p>
            <a:r>
              <a:rPr lang="ru-RU" sz="2900" b="1" dirty="0"/>
              <a:t>Вторичный контур (турбина)</a:t>
            </a:r>
            <a:r>
              <a:rPr lang="ru-RU" sz="2900" dirty="0"/>
              <a:t>:</a:t>
            </a:r>
          </a:p>
          <a:p>
            <a:pPr lvl="1"/>
            <a:r>
              <a:rPr lang="ru-RU" sz="2900" dirty="0"/>
              <a:t>Отводит тепло</a:t>
            </a:r>
          </a:p>
          <a:p>
            <a:pPr lvl="1"/>
            <a:r>
              <a:rPr lang="ru-RU" sz="2900" dirty="0"/>
              <a:t>Имеет ограничение по поглощению энергии</a:t>
            </a:r>
          </a:p>
          <a:p>
            <a:pPr marL="0" indent="0">
              <a:buNone/>
            </a:pPr>
            <a:r>
              <a:rPr lang="ru-RU" sz="2900" b="1" dirty="0"/>
              <a:t>2. Два режима управления</a:t>
            </a:r>
          </a:p>
          <a:p>
            <a:r>
              <a:rPr lang="ru-RU" sz="2900" b="1" dirty="0"/>
              <a:t>Автоматический режим</a:t>
            </a:r>
            <a:r>
              <a:rPr lang="ru-RU" sz="2900" dirty="0"/>
              <a:t>:</a:t>
            </a:r>
          </a:p>
          <a:p>
            <a:pPr lvl="1"/>
            <a:r>
              <a:rPr lang="ru-RU" sz="2900" dirty="0"/>
              <a:t>Система самостоятельно регулирует мощность реактора для предотвращения перегрева.</a:t>
            </a:r>
          </a:p>
          <a:p>
            <a:r>
              <a:rPr lang="ru-RU" sz="2900" b="1" dirty="0"/>
              <a:t>Ручной режим</a:t>
            </a:r>
            <a:r>
              <a:rPr lang="ru-RU" sz="2900" dirty="0"/>
              <a:t>:</a:t>
            </a:r>
          </a:p>
          <a:p>
            <a:pPr lvl="1"/>
            <a:r>
              <a:rPr lang="ru-RU" sz="2900" dirty="0"/>
              <a:t>Пользователь полностью контролирует мощность и системы охлаждения.</a:t>
            </a:r>
          </a:p>
          <a:p>
            <a:pPr lvl="1"/>
            <a:r>
              <a:rPr lang="ru-RU" sz="2900" dirty="0"/>
              <a:t>Позволяет осознанно провоцировать аварии (например, отключить турбину на высокой мощности).</a:t>
            </a:r>
          </a:p>
          <a:p>
            <a:pPr lvl="1"/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548600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6C6E32-6923-4F63-B9FD-36FD207F3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Основные правила взаимодействия объектов системы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C61E284-2D54-448D-B623-371E9A14D3F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pPr marL="0" indent="0" algn="just">
              <a:buNone/>
            </a:pPr>
            <a:r>
              <a:rPr lang="ru-RU" sz="1600" dirty="0"/>
              <a:t>1. Реактор ↔ Первичный контур охлаждения</a:t>
            </a:r>
          </a:p>
          <a:p>
            <a:pPr marL="0" indent="0" algn="just">
              <a:buNone/>
            </a:pPr>
            <a:r>
              <a:rPr lang="ru-RU" sz="1600" dirty="0"/>
              <a:t>Действие:</a:t>
            </a:r>
          </a:p>
          <a:p>
            <a:pPr algn="just"/>
            <a:r>
              <a:rPr lang="ru-RU" sz="1600" dirty="0"/>
              <a:t>Реактор передаёт тепло в первичный контур пропорционально мощности.</a:t>
            </a:r>
          </a:p>
          <a:p>
            <a:pPr marL="0" indent="0" algn="just">
              <a:buNone/>
            </a:pPr>
            <a:r>
              <a:rPr lang="ru-RU" sz="1600" dirty="0"/>
              <a:t>Ограничения:</a:t>
            </a:r>
          </a:p>
          <a:p>
            <a:pPr algn="just"/>
            <a:r>
              <a:rPr lang="ru-RU" sz="1600" dirty="0"/>
              <a:t>Если температура контура &gt; 300°C — состояние становится критическим.</a:t>
            </a:r>
          </a:p>
          <a:p>
            <a:pPr algn="just"/>
            <a:r>
              <a:rPr lang="ru-RU" sz="1600" dirty="0"/>
              <a:t>Если &gt; 400°C — аварийное состояние</a:t>
            </a:r>
          </a:p>
          <a:p>
            <a:pPr marL="0" indent="0" algn="just">
              <a:buNone/>
            </a:pPr>
            <a:r>
              <a:rPr lang="ru-RU" sz="1600" dirty="0"/>
              <a:t>2. Первичный контур ↔ Турбина (вторичный контур)</a:t>
            </a:r>
          </a:p>
          <a:p>
            <a:pPr marL="0" indent="0" algn="just">
              <a:buNone/>
            </a:pPr>
            <a:r>
              <a:rPr lang="ru-RU" sz="1600" dirty="0"/>
              <a:t>Действие:</a:t>
            </a:r>
          </a:p>
          <a:p>
            <a:pPr algn="just"/>
            <a:r>
              <a:rPr lang="ru-RU" sz="1600" dirty="0"/>
              <a:t>Турбина забирает тепло из первичного контура, если активна.</a:t>
            </a:r>
          </a:p>
          <a:p>
            <a:pPr marL="0" indent="0" algn="just">
              <a:buNone/>
            </a:pPr>
            <a:r>
              <a:rPr lang="ru-RU" sz="1600" dirty="0"/>
              <a:t>Ограничения:</a:t>
            </a:r>
          </a:p>
          <a:p>
            <a:pPr algn="just"/>
            <a:r>
              <a:rPr lang="ru-RU" sz="1600" dirty="0"/>
              <a:t>Без турбины первичный контур перегревается.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287F5CF-F6A5-B34B-1AFE-84187D5A9BB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825624"/>
            <a:ext cx="5332445" cy="5032375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ru-RU" sz="1600" dirty="0"/>
              <a:t>3. Пользователь ↔ Реактор</a:t>
            </a:r>
          </a:p>
          <a:p>
            <a:pPr marL="0" indent="0">
              <a:buNone/>
            </a:pPr>
            <a:r>
              <a:rPr lang="ru-RU" sz="1600" dirty="0"/>
              <a:t>Действия:</a:t>
            </a:r>
          </a:p>
          <a:p>
            <a:pPr lvl="1"/>
            <a:r>
              <a:rPr lang="ru-RU" sz="1600" dirty="0"/>
              <a:t>Запуск/остановка реактора — кнопка в интерфейсе.</a:t>
            </a:r>
          </a:p>
          <a:p>
            <a:pPr lvl="1"/>
            <a:r>
              <a:rPr lang="ru-RU" sz="1600" dirty="0"/>
              <a:t>Установка мощности — ползунок (0–100%).</a:t>
            </a:r>
          </a:p>
          <a:p>
            <a:pPr lvl="1"/>
            <a:r>
              <a:rPr lang="ru-RU" sz="1600" dirty="0"/>
              <a:t>Сброс аварии — сбрасывает аварийный режим и температуру.</a:t>
            </a:r>
          </a:p>
          <a:p>
            <a:pPr marL="0" indent="0">
              <a:buNone/>
            </a:pPr>
            <a:r>
              <a:rPr lang="ru-RU" sz="1600" dirty="0"/>
              <a:t>Ограничения:</a:t>
            </a:r>
          </a:p>
          <a:p>
            <a:pPr lvl="1"/>
            <a:r>
              <a:rPr lang="ru-RU" sz="1600" dirty="0"/>
              <a:t>В автоматическом режиме система корректирует мощность сама.</a:t>
            </a:r>
          </a:p>
          <a:p>
            <a:pPr marL="0" indent="0">
              <a:buNone/>
            </a:pPr>
            <a:r>
              <a:rPr lang="ru-RU" sz="1600" dirty="0"/>
              <a:t>4. Пользователь ↔ Турбина</a:t>
            </a:r>
          </a:p>
          <a:p>
            <a:pPr marL="0" indent="0">
              <a:buNone/>
            </a:pPr>
            <a:r>
              <a:rPr lang="ru-RU" sz="1600" dirty="0"/>
              <a:t>Действия:</a:t>
            </a:r>
          </a:p>
          <a:p>
            <a:pPr lvl="1"/>
            <a:r>
              <a:rPr lang="ru-RU" sz="1600" dirty="0"/>
              <a:t>Включение/выключение турбины</a:t>
            </a:r>
          </a:p>
          <a:p>
            <a:pPr marL="0" indent="0">
              <a:buNone/>
            </a:pPr>
            <a:r>
              <a:rPr lang="ru-RU" sz="1600" dirty="0"/>
              <a:t>Последствия:</a:t>
            </a:r>
          </a:p>
          <a:p>
            <a:pPr lvl="1"/>
            <a:r>
              <a:rPr lang="ru-RU" sz="1600" dirty="0"/>
              <a:t>Если турбина выключена будет перегрев.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1896181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35">
            <a:extLst>
              <a:ext uri="{FF2B5EF4-FFF2-40B4-BE49-F238E27FC236}">
                <a16:creationId xmlns:a16="http://schemas.microsoft.com/office/drawing/2014/main" id="{54D6E28A-AF8D-4290-8CC0-0B4D4C3A9B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03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69635" name="Rectangle 44">
            <a:extLst>
              <a:ext uri="{FF2B5EF4-FFF2-40B4-BE49-F238E27FC236}">
                <a16:creationId xmlns:a16="http://schemas.microsoft.com/office/drawing/2014/main" id="{7799622E-EBF8-42DA-84BE-164544B994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03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69636" name="Rectangle 47">
            <a:extLst>
              <a:ext uri="{FF2B5EF4-FFF2-40B4-BE49-F238E27FC236}">
                <a16:creationId xmlns:a16="http://schemas.microsoft.com/office/drawing/2014/main" id="{64F6536C-FBC2-489E-AA10-918F859A27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03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69637" name="Rectangle 53">
            <a:extLst>
              <a:ext uri="{FF2B5EF4-FFF2-40B4-BE49-F238E27FC236}">
                <a16:creationId xmlns:a16="http://schemas.microsoft.com/office/drawing/2014/main" id="{3BC8A7B7-EEC8-44E3-A8E4-0AEE8BF6CC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03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69638" name="Rectangle 56">
            <a:extLst>
              <a:ext uri="{FF2B5EF4-FFF2-40B4-BE49-F238E27FC236}">
                <a16:creationId xmlns:a16="http://schemas.microsoft.com/office/drawing/2014/main" id="{61FDFB6F-B150-459D-A346-CEFAD9B32D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1" y="1830388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sp>
        <p:nvSpPr>
          <p:cNvPr id="69639" name="Rectangle 58">
            <a:extLst>
              <a:ext uri="{FF2B5EF4-FFF2-40B4-BE49-F238E27FC236}">
                <a16:creationId xmlns:a16="http://schemas.microsoft.com/office/drawing/2014/main" id="{8DE00D9A-10F0-499E-BF2D-601A00ED36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" y="1830388"/>
            <a:ext cx="0" cy="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lr>
                <a:schemeClr val="bg2"/>
              </a:buClr>
              <a:buSzPct val="75000"/>
              <a:buFont typeface="Wingdings" panose="05000000000000000000" pitchFamily="2" charset="2"/>
              <a:buChar char="n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spcBef>
                <a:spcPct val="20000"/>
              </a:spcBef>
              <a:buClr>
                <a:schemeClr val="accent2"/>
              </a:buClr>
              <a:buSzPct val="80000"/>
              <a:buFont typeface="Wingdings" panose="05000000000000000000" pitchFamily="2" charset="2"/>
              <a:buChar char="¨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spcBef>
                <a:spcPct val="20000"/>
              </a:spcBef>
              <a:buClr>
                <a:schemeClr val="bg2"/>
              </a:buClr>
              <a:buSzPct val="6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spcBef>
                <a:spcPct val="20000"/>
              </a:spcBef>
              <a:buClr>
                <a:schemeClr val="accent2"/>
              </a:buClr>
              <a:buSzPct val="70000"/>
              <a:buFont typeface="Wingdings" panose="05000000000000000000" pitchFamily="2" charset="2"/>
              <a:buChar char="¨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spcBef>
                <a:spcPct val="20000"/>
              </a:spcBef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ru-RU" altLang="ru-RU" sz="180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CC3ACF53-8BBB-60CF-0110-342FFC81F7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714046"/>
            <a:ext cx="4459352" cy="4143953"/>
          </a:xfrm>
          <a:prstGeom prst="rect">
            <a:avLst/>
          </a:prstGeom>
        </p:spPr>
      </p:pic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2E6CD6B2-498B-9244-F05A-47003DA043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42596"/>
            <a:ext cx="10515600" cy="1448092"/>
          </a:xfrm>
        </p:spPr>
        <p:txBody>
          <a:bodyPr>
            <a:normAutofit/>
          </a:bodyPr>
          <a:lstStyle/>
          <a:p>
            <a:r>
              <a:rPr lang="ru-RU" dirty="0"/>
              <a:t>Конечные автоматы</a:t>
            </a:r>
          </a:p>
        </p:txBody>
      </p:sp>
      <p:sp>
        <p:nvSpPr>
          <p:cNvPr id="5" name="Объект 4">
            <a:extLst>
              <a:ext uri="{FF2B5EF4-FFF2-40B4-BE49-F238E27FC236}">
                <a16:creationId xmlns:a16="http://schemas.microsoft.com/office/drawing/2014/main" id="{37F67E89-DBAA-AB57-BE96-9B057CD9A9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2267339"/>
            <a:ext cx="10722429" cy="3884200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       Реактор                              Первичный контур                         Турбина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74066D7-A822-298A-6CC2-5AAA3D1230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59352" y="2714045"/>
            <a:ext cx="4684223" cy="4143953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7AA607C4-8238-4C6C-A3E5-A0A3BCDEB73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3575" y="2714044"/>
            <a:ext cx="3048425" cy="2762636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35054A81-0180-3FC6-32E1-EE05836E783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43575" y="5476680"/>
            <a:ext cx="3062773" cy="13813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80C0643-F0E9-49DC-B985-CFF34A3DA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Спасибо за внимание!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E4057FD-F9DA-0B15-CD16-F1991359F1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dirty="0"/>
              <a:t>Разработанный симулятор АЭС представляет собой комплексную модель, демонстрирующую ключевые принципы работы атомной электростанции и взаимодействие ее внутренних систем.</a:t>
            </a:r>
          </a:p>
        </p:txBody>
      </p:sp>
      <p:sp>
        <p:nvSpPr>
          <p:cNvPr id="5" name="AutoShape 2" descr="Picture background">
            <a:extLst>
              <a:ext uri="{FF2B5EF4-FFF2-40B4-BE49-F238E27FC236}">
                <a16:creationId xmlns:a16="http://schemas.microsoft.com/office/drawing/2014/main" id="{F32937FD-3FA0-E03B-F0F5-70E7D00B4F3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6" name="AutoShape 4" descr="Picture background">
            <a:extLst>
              <a:ext uri="{FF2B5EF4-FFF2-40B4-BE49-F238E27FC236}">
                <a16:creationId xmlns:a16="http://schemas.microsoft.com/office/drawing/2014/main" id="{8F019358-D1A3-4A7F-620D-AA2E0EAB6A0F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576945" y="3428999"/>
            <a:ext cx="3823855" cy="38238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9" name="AutoShape 6" descr="Picture background">
            <a:extLst>
              <a:ext uri="{FF2B5EF4-FFF2-40B4-BE49-F238E27FC236}">
                <a16:creationId xmlns:a16="http://schemas.microsoft.com/office/drawing/2014/main" id="{AFFBD4F7-34CE-B114-941F-F14D2CF44CD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CB7C89C1-0934-8C20-AAD9-6D23FFCBDF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58300" y="5120938"/>
            <a:ext cx="2933700" cy="1737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44990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887</TotalTime>
  <Words>285</Words>
  <Application>Microsoft Office PowerPoint</Application>
  <PresentationFormat>Широкоэкранный</PresentationFormat>
  <Paragraphs>47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Тема Office</vt:lpstr>
      <vt:lpstr>АЭС: Система управления реактором</vt:lpstr>
      <vt:lpstr>Моделирование безопасной эксплуатации АЭС с учётом динамики тепловых процессов</vt:lpstr>
      <vt:lpstr>Основные правила взаимодействия объектов системы</vt:lpstr>
      <vt:lpstr>Конечные автоматы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Наименование системы</dc:title>
  <dc:creator>Наталья</dc:creator>
  <cp:lastModifiedBy>Oleg Mordovskiy</cp:lastModifiedBy>
  <cp:revision>4</cp:revision>
  <dcterms:created xsi:type="dcterms:W3CDTF">2020-05-31T09:38:23Z</dcterms:created>
  <dcterms:modified xsi:type="dcterms:W3CDTF">2025-06-13T08:21:34Z</dcterms:modified>
</cp:coreProperties>
</file>